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E775F9-7683-4E6A-A3C7-A5CD465207E8}" v="2" dt="2026-10-24T14:33:37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hash Sahoo" userId="cbda5c0254b87e85" providerId="LiveId" clId="{9C838C22-C32E-4DCE-B262-08D7E02A02EB}"/>
    <pc:docChg chg="undo custSel modSld">
      <pc:chgData name="Subhash Sahoo" userId="cbda5c0254b87e85" providerId="LiveId" clId="{9C838C22-C32E-4DCE-B262-08D7E02A02EB}" dt="2026-10-24T14:39:15.604" v="26" actId="1076"/>
      <pc:docMkLst>
        <pc:docMk/>
      </pc:docMkLst>
      <pc:sldChg chg="addSp delSp modSp mod">
        <pc:chgData name="Subhash Sahoo" userId="cbda5c0254b87e85" providerId="LiveId" clId="{9C838C22-C32E-4DCE-B262-08D7E02A02EB}" dt="2026-10-24T14:34:39.242" v="11" actId="1076"/>
        <pc:sldMkLst>
          <pc:docMk/>
          <pc:sldMk cId="0" sldId="256"/>
        </pc:sldMkLst>
        <pc:spChg chg="mod">
          <ac:chgData name="Subhash Sahoo" userId="cbda5c0254b87e85" providerId="LiveId" clId="{9C838C22-C32E-4DCE-B262-08D7E02A02EB}" dt="2026-10-24T14:34:07.360" v="7" actId="1410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ubhash Sahoo" userId="cbda5c0254b87e85" providerId="LiveId" clId="{9C838C22-C32E-4DCE-B262-08D7E02A02EB}" dt="2026-10-24T14:34:39.242" v="11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ubhash Sahoo" userId="cbda5c0254b87e85" providerId="LiveId" clId="{9C838C22-C32E-4DCE-B262-08D7E02A02EB}" dt="2026-10-24T14:34:32.611" v="10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ubhash Sahoo" userId="cbda5c0254b87e85" providerId="LiveId" clId="{9C838C22-C32E-4DCE-B262-08D7E02A02EB}" dt="2026-10-24T14:34:16.734" v="8" actId="1410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ubhash Sahoo" userId="cbda5c0254b87e85" providerId="LiveId" clId="{9C838C22-C32E-4DCE-B262-08D7E02A02EB}" dt="2026-10-24T14:34:21.412" v="9" actId="14100"/>
          <ac:spMkLst>
            <pc:docMk/>
            <pc:sldMk cId="0" sldId="256"/>
            <ac:spMk id="19" creationId="{00000000-0000-0000-0000-000000000000}"/>
          </ac:spMkLst>
        </pc:spChg>
        <pc:spChg chg="del mod">
          <ac:chgData name="Subhash Sahoo" userId="cbda5c0254b87e85" providerId="LiveId" clId="{9C838C22-C32E-4DCE-B262-08D7E02A02EB}" dt="2026-10-24T14:33:24.374" v="1" actId="478"/>
          <ac:spMkLst>
            <pc:docMk/>
            <pc:sldMk cId="0" sldId="256"/>
            <ac:spMk id="24" creationId="{00000000-0000-0000-0000-000000000000}"/>
          </ac:spMkLst>
        </pc:spChg>
        <pc:spChg chg="add mod">
          <ac:chgData name="Subhash Sahoo" userId="cbda5c0254b87e85" providerId="LiveId" clId="{9C838C22-C32E-4DCE-B262-08D7E02A02EB}" dt="2026-10-24T14:33:46.177" v="6" actId="1076"/>
          <ac:spMkLst>
            <pc:docMk/>
            <pc:sldMk cId="0" sldId="256"/>
            <ac:spMk id="25" creationId="{8282B8A6-1AA9-F3F3-DDAE-3188521E86FB}"/>
          </ac:spMkLst>
        </pc:spChg>
      </pc:sldChg>
      <pc:sldChg chg="modSp mod">
        <pc:chgData name="Subhash Sahoo" userId="cbda5c0254b87e85" providerId="LiveId" clId="{9C838C22-C32E-4DCE-B262-08D7E02A02EB}" dt="2026-10-24T14:39:15.604" v="26" actId="1076"/>
        <pc:sldMkLst>
          <pc:docMk/>
          <pc:sldMk cId="0" sldId="258"/>
        </pc:sldMkLst>
        <pc:spChg chg="mod">
          <ac:chgData name="Subhash Sahoo" userId="cbda5c0254b87e85" providerId="LiveId" clId="{9C838C22-C32E-4DCE-B262-08D7E02A02EB}" dt="2026-10-24T14:38:03.864" v="19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Subhash Sahoo" userId="cbda5c0254b87e85" providerId="LiveId" clId="{9C838C22-C32E-4DCE-B262-08D7E02A02EB}" dt="2026-10-24T14:38:10.331" v="20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ubhash Sahoo" userId="cbda5c0254b87e85" providerId="LiveId" clId="{9C838C22-C32E-4DCE-B262-08D7E02A02EB}" dt="2026-10-24T14:38:21.069" v="21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ubhash Sahoo" userId="cbda5c0254b87e85" providerId="LiveId" clId="{9C838C22-C32E-4DCE-B262-08D7E02A02EB}" dt="2026-10-24T14:39:01.873" v="25" actId="14100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ubhash Sahoo" userId="cbda5c0254b87e85" providerId="LiveId" clId="{9C838C22-C32E-4DCE-B262-08D7E02A02EB}" dt="2026-10-24T14:39:15.604" v="26" actId="1076"/>
          <ac:spMkLst>
            <pc:docMk/>
            <pc:sldMk cId="0" sldId="258"/>
            <ac:spMk id="2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61120" y="914400"/>
            <a:ext cx="4754880" cy="47548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18320" y="1371600"/>
            <a:ext cx="3840480" cy="38404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46920" y="26517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6366F1"/>
                </a:solidFill>
                <a:latin typeface="Segoe UI"/>
              </a:rPr>
              <a:t>OCR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YOLOv3 + Tesseract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Segoe UI"/>
              </a:rPr>
              <a:t>Custom Object Character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366F1"/>
                </a:solidFill>
                <a:latin typeface="Segoe UI"/>
              </a:rPr>
              <a:t>Recognition on Lab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Computer Vision + OCR Project  |  Project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Build a custom OCR pipeline combining YOLOv3 and Tesseract to
read specific contents of medical lab reports and convert them
into structured, editable CSV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77724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886200"/>
            <a:ext cx="630936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3904487"/>
            <a:ext cx="6492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1F5F9"/>
                </a:solidFill>
                <a:latin typeface="Segoe UI"/>
              </a:rPr>
              <a:t>YOLOv3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9334" y="3886200"/>
            <a:ext cx="1175004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73352" y="3904487"/>
            <a:ext cx="11018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1F5F9"/>
                </a:solidFill>
                <a:latin typeface="Segoe UI"/>
              </a:rPr>
              <a:t>Tesseract OCR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3824" y="3886200"/>
            <a:ext cx="630936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36976" y="3904487"/>
            <a:ext cx="6492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1F5F9"/>
                </a:solidFill>
                <a:latin typeface="Segoe UI"/>
              </a:rPr>
              <a:t>OpenCV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7136" y="3886200"/>
            <a:ext cx="630936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3904487"/>
            <a:ext cx="649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1F5F9"/>
                </a:solidFill>
                <a:latin typeface="Segoe UI"/>
              </a:rPr>
              <a:t>Python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70448" y="3886200"/>
            <a:ext cx="70866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3904487"/>
            <a:ext cx="6355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Darknet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886200"/>
            <a:ext cx="109728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96912" y="3904487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Google Colab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82B8A6-1AA9-F3F3-DDAE-3188521E86FB}"/>
              </a:ext>
            </a:extLst>
          </p:cNvPr>
          <p:cNvSpPr txBox="1"/>
          <p:nvPr/>
        </p:nvSpPr>
        <p:spPr>
          <a:xfrm>
            <a:off x="457200" y="5321635"/>
            <a:ext cx="3154680" cy="124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500"/>
              </a:spcBef>
            </a:pPr>
            <a:r>
              <a:rPr lang="en-IN" dirty="0" err="1">
                <a:solidFill>
                  <a:srgbClr val="00B0F0"/>
                </a:solidFill>
              </a:rPr>
              <a:t>NextHikes</a:t>
            </a:r>
            <a:r>
              <a:rPr lang="en-IN" dirty="0">
                <a:solidFill>
                  <a:srgbClr val="00B0F0"/>
                </a:solidFill>
              </a:rPr>
              <a:t> IT Solutions</a:t>
            </a:r>
          </a:p>
          <a:p>
            <a:pPr>
              <a:spcBef>
                <a:spcPts val="2500"/>
              </a:spcBef>
            </a:pPr>
            <a:r>
              <a:rPr lang="en-IN" dirty="0">
                <a:solidFill>
                  <a:srgbClr val="00B0F0"/>
                </a:solidFill>
              </a:rPr>
              <a:t>Sarita Sahoo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Objective  ·  Dataset  ·  Pipeline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1752" y="1115568"/>
            <a:ext cx="45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417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Build a Custom OCR combining YOLOv3 and Tesseract to extract structured data from medical lab reports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Use YOLOv3 (trained on a personal dataset) to detect specific regions in each report image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Crop detected regions, preprocess them, and extract text via Tesseract OCR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Output: editable CSV with Test Name, Value, Unit, Reference 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3264408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3246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Dataset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356616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100 Thyrocare lab report images (JPG format)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Single class — class 0: lab_data_region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Reports contain: Thyroid, Vitamin D, Vitamin B12 tests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Image naming: thyrocare_0_&lt;id&gt;.jpg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Canvas: 13.33 × 7.50 in widescreen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051560"/>
            <a:ext cx="5303520" cy="5440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End-to-End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554480"/>
            <a:ext cx="292608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15819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5544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8105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Lab report JPG images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02552" y="1847088"/>
            <a:ext cx="54864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0" y="2350008"/>
            <a:ext cx="292608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2377439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350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Detect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60603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YOLOv3 bounding boxes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2552" y="2642615"/>
            <a:ext cx="54864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0" y="314553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31729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1455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Crop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4015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Extract detected regions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02552" y="3438144"/>
            <a:ext cx="54864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0" y="3941063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39684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94106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Preprocess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419709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Resize → gray → blur → threshold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02552" y="4233672"/>
            <a:ext cx="54864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0" y="4736592"/>
            <a:ext cx="292608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01968" y="47640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7365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OCR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9926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Tesseract text extraction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02552" y="5029200"/>
            <a:ext cx="54864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0" y="5532120"/>
            <a:ext cx="292608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01968" y="555955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  <a:latin typeface="Segoe U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55321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57881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Structured CSV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Dataset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Thyrocare lab report images · image quality metrics · class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  <a:latin typeface="Segoe UI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Total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757" y="108813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YOLO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507" y="1097280"/>
            <a:ext cx="19472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3B82F6"/>
                </a:solidFill>
                <a:latin typeface="Segoe UI"/>
              </a:rPr>
              <a:t>~416×416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Target Size (px)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762" y="1097280"/>
            <a:ext cx="1801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59E0B"/>
                </a:solidFill>
                <a:latin typeface="Segoe UI"/>
              </a:rPr>
              <a:t>80/10/10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Train/Val/Test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097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F4444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OCR Output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097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  <a:latin typeface="Segoe UI"/>
              </a:rPr>
              <a:t>£0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Cloud Cost (Colab)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91513"/>
            <a:ext cx="11384280" cy="457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1752" y="2029968"/>
            <a:ext cx="45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6366F1"/>
                </a:solidFill>
                <a:latin typeface="Segoe UI"/>
              </a:rPr>
              <a:t>Image Characteristics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" y="2331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F1F5F9"/>
                </a:solidFill>
                <a:latin typeface="Segoe UI"/>
              </a:rPr>
              <a:t>  ▸  Format: JPEG  |  Color space: RGB (3 channels)</a:t>
            </a:r>
          </a:p>
          <a:p>
            <a:r>
              <a:rPr sz="1000" b="0" dirty="0">
                <a:solidFill>
                  <a:srgbClr val="F1F5F9"/>
                </a:solidFill>
                <a:latin typeface="Segoe UI"/>
              </a:rPr>
              <a:t>  ▸  Typical dimensions: ~600×800 </a:t>
            </a:r>
            <a:r>
              <a:rPr sz="1000" b="0" dirty="0" err="1">
                <a:solidFill>
                  <a:srgbClr val="F1F5F9"/>
                </a:solidFill>
                <a:latin typeface="Segoe UI"/>
              </a:rPr>
              <a:t>px</a:t>
            </a:r>
            <a:r>
              <a:rPr sz="1000" b="0" dirty="0">
                <a:solidFill>
                  <a:srgbClr val="F1F5F9"/>
                </a:solidFill>
                <a:latin typeface="Segoe UI"/>
              </a:rPr>
              <a:t> to ~1200×1600 </a:t>
            </a:r>
            <a:r>
              <a:rPr sz="1000" b="0" dirty="0" err="1">
                <a:solidFill>
                  <a:srgbClr val="F1F5F9"/>
                </a:solidFill>
                <a:latin typeface="Segoe UI"/>
              </a:rPr>
              <a:t>px</a:t>
            </a:r>
            <a:r>
              <a:rPr sz="1000" b="0" dirty="0">
                <a:solidFill>
                  <a:srgbClr val="F1F5F9"/>
                </a:solidFill>
                <a:latin typeface="Segoe UI"/>
              </a:rPr>
              <a:t> (portrait)</a:t>
            </a:r>
          </a:p>
          <a:p>
            <a:r>
              <a:rPr sz="1000" b="0" dirty="0">
                <a:solidFill>
                  <a:srgbClr val="F1F5F9"/>
                </a:solidFill>
                <a:latin typeface="Segoe UI"/>
              </a:rPr>
              <a:t>  ▸  File sizes range: 50 KB – 500 KB</a:t>
            </a:r>
          </a:p>
          <a:p>
            <a:r>
              <a:rPr sz="1000" b="0" dirty="0">
                <a:solidFill>
                  <a:srgbClr val="F1F5F9"/>
                </a:solidFill>
                <a:latin typeface="Segoe UI"/>
              </a:rPr>
              <a:t>  ▸  Class label encoded in filename: thyrocare_0_&lt;id&gt;.jpg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" y="3538728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3520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Lab Report Contents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38404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Patient header: name, sample collection site, date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Data table columns: Test Name | Technology | Value | Units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Tests covered: Thyroid (T3/T4/TSH), Vitamin D, Vitamin B12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Reference range printed alongside each test result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Technology field: C.L.I.A., ELISA, PCR etc.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043684"/>
            <a:ext cx="5303520" cy="4251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Segoe UI"/>
              </a:rPr>
              <a:t>Metadata Features Computed per 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4505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width, height, channels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505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Image dimensions (px)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2761488"/>
            <a:ext cx="50749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2880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aspect_ratio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8803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width / height ratio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3191256"/>
            <a:ext cx="50749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29400" y="33101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file_size_kb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3101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Disk size in kilobytes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3621024"/>
            <a:ext cx="50749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37398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mean_r, mean_g, mean_b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7398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Per-channel pixel mean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4050791"/>
            <a:ext cx="50749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416966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std_r, std_g, std_b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1696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Per-channel pixel std dev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4480560"/>
            <a:ext cx="50749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29400" y="459943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brightness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599431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Mean of grayscale image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4910327"/>
            <a:ext cx="50749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29400" y="5029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contrast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50292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Std dev of grayscale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5340096"/>
            <a:ext cx="50749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29400" y="54589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sharpness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54589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Laplacian variance (focus)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5769864"/>
            <a:ext cx="50749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9400" y="58887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class_label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588873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YOLO class from filename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29400" y="6199631"/>
            <a:ext cx="50749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Data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Detecting and handling corrupt or unreadable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1752" y="1115568"/>
            <a:ext cx="45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Corruption Detection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417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cv2.imread() — returns None for unreadable files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PIL Image.verify() — checks file integrity at byte level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Both checks required: a file may open in cv2 but fail verify()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Corrupt images logged to corrupt_images list with error message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2990088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971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Metadata Collected (15 features per image)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3291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Dimensions: width, height, channels, aspect_ratio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Quality: brightness (mean gray), contrast (std gray), sharpness (Laplacian var)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Color: mean &amp; std for R, G, B channels independently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File: file_size_kb, readable flag, class_label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051560"/>
            <a:ext cx="5303520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Cleanup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0020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162763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600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87451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Iterate all 100 images with tqdm progress bar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377440"/>
            <a:ext cx="2743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240487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377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651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cv2.imread() + PIL.verify() dual check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154680"/>
            <a:ext cx="2743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318211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154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Extract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429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Compute 15 metadata features per readable image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931920"/>
            <a:ext cx="2743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968" y="3959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3931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206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Record corrupt images with error message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709160"/>
            <a:ext cx="27432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1968" y="473659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4709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DataFrame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4983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Build pd.DataFrame with all image records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5486400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01968" y="551383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5486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F5F9"/>
                </a:solidFill>
                <a:latin typeface="Segoe UI"/>
              </a:rPr>
              <a:t>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5760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Print readable / corrupt counts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92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▸  Sharpness = cv2.Laplacian(gray, CV_64F).var()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66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▸  brightness = float(gray.mean())               contrast = float(gray.std())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Missing Value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Image-level and OCR DataFrame · backfill vs drop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5303520" cy="4983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53035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Segoe UI"/>
              </a:rPr>
              <a:t>Strategy 1 — Backfill (Image Metadata)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Segoe UI"/>
              </a:rPr>
              <a:t>Used when corrupt % ≤ 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Missing numeric stats (width, height, brightness,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Caused by images that fail cv2 or PIL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4553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Fill with column median (robust to skew vs mean)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039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14 numeric columns: dimensions, color stats,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622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Corrupt rows retained in DataFrame with imputed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051560"/>
            <a:ext cx="5303520" cy="4983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1051560"/>
            <a:ext cx="530352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1143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Segoe UI"/>
              </a:rPr>
              <a:t>Strategy 2 — Drop Row (Column Delete)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81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Segoe UI"/>
              </a:rPr>
              <a:t>Used when corrupt % &gt; 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If more than 5% of images are unreadable → drop them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4871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Avoids propagating imputed values through model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14553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df_clean = df_filled[df_filled["readable"]].reset_index()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8039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Remaining rows are fully valid and analysis-ready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4622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Applied before EDA and YOLO dataset preparation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349240"/>
            <a:ext cx="11365992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413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OCR DataFrame Missing Value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87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▸  technology, unit: ffill().bfill() per source_image group
▸  Rows with test_name AND value both NaN → dropped
▸  Remaining NaN → filled with placeholder "N/A"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687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▸  Empty string → replaced with np.nan for uniform handling
▸  Missing units backfilled from adjacent rows (same image)
▸  Final DataFrame: fully non-null, ready for CSV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Univariate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Single-feature distributions across the 100-image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5605272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1208" y="1188719"/>
            <a:ext cx="45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18871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Image Dimensions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5819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Histogram of width, height, aspect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2996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Mean width ≈ 600 px | Mean height ≈ 850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4780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Aspect ratio ≈ 0.70 (portrait format)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axvline marks mean in each histogram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078992"/>
            <a:ext cx="5605272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45936" y="1188719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1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Quality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819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Brightness = mean of grayscale pixel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2996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Contrast = std dev of grayscale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780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Sharpness = Laplacian variance (focus)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Distributions show most images are well-lit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03320"/>
            <a:ext cx="5605272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1208" y="3813048"/>
            <a:ext cx="4572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3813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Segoe UI"/>
              </a:rPr>
              <a:t>RGB Channel Histograms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206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Aggregate pixel intensity (0–255) across all 100 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65429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Red, Green, Blue channels plotted with fill_between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51023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Medical reports: high peak near 200–240 (white paper)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555040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Low intensity tail = dark text region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3703320"/>
            <a:ext cx="5605272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45936" y="3813048"/>
            <a:ext cx="457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813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File Size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06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Histogram + box plot of file size in KB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65429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Identifies abnormally small (corrupt) or large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023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Used as input feature for outlier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5040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Box plot exposes Q1–Q3 range and whiskers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Bivariate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Two-feature relationships · scatter plots · Pearson correlation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5605272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1208" y="1188719"/>
            <a:ext cx="45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18871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Width vs Height Scatter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5819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Scatter plot coloured by file size (KB)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2996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Pearson r computed and annotated on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4780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Strong positive correlation expected (portrait aspect)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Colour dimension reveals file-size clusters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078992"/>
            <a:ext cx="5605272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45936" y="1188719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1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Brightness vs Contrast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819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Scatter coloured by sharpness (Laplacian variance)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2996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Bright images tend to have lower contrast (white backgrounds)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780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Darker, blurrier images appear in lower-right quadrant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Pearson r reveals inverse correlation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03320"/>
            <a:ext cx="5605272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1208" y="3813048"/>
            <a:ext cx="4572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3813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Segoe UI"/>
              </a:rPr>
              <a:t>RGB Channel Pairplot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206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Pairwise scatter of mean_r, mean_g, mean_b, std_r, std_g, std_b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65429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Diagonal: KDE density of each 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51023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Off-diagonal: scatter revealing channel correlations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555040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Shows whether channels move together (greyscale bias)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3703320"/>
            <a:ext cx="5605272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45936" y="3813048"/>
            <a:ext cx="457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813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Regression: File Size vs Brightness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06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sns.regplot with OLS regression line + 95% CI band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65429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Brighter images (high mean brightness) tend to be larger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023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Slope direction shows encoding efficiency vs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5040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Useful for identifying compression anomalies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Multivariate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Correlation matrix · PCA · 3D scatter across 13 image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1752" y="1115568"/>
            <a:ext cx="45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Correlation Matrix (13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417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Features: width, height, aspect_ratio, file_size_kb, mean_r/g/b, std_r/g/b, brightness, contrast, sharpness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Lower-triangular heatmap with RdYlGn colormap (red=–1, green=+1)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Highly correlated pairs flagged at |r| ≥ 0.85 — e.g. brightness ↔ mean_r/g/b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Used to identify redundant features before model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3172968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3154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Principal Component Analysis (PCA)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347472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StandardScaler applied before PCA (unit variance)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Scree plot: explained variance % per PC + cumulative curve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90% threshold line highlights minimum PCs needed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PC1 vs PC2 scatter coloured by brightness reveals image clusters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Loadings table: top contributing features per PC1, PC2, PC3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051560"/>
            <a:ext cx="5303520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3D Scatter Plot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554480"/>
            <a:ext cx="4983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Segoe UI"/>
              </a:rPr>
              <a:t>Axes:
  X — Brightness (mean grayscale)
  Y — Contrast (std grayscale)
  Z — Sharpness (Laplacian variance)
Color dimension:
  Plasma colormap mapped to File Size (KB)
Insight:
  Large, sharp images cluster in the high-contrast
  high-sharpness region (good training candidates)
  Low-brightness + low-sharpness images in the
  bottom cluster are candidates for removal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1206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PCA Results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39496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13 features → typically 4–6 PCs explain 90% variance
▸  PC1 dominated by color channel means + brightness
▸  PC2 separates sharpness and contrast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Outlier Detection &amp;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Three methods · 2-of-3 voting · severity-based removal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3566160" cy="2880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35661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IQR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5727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Q1, Q3, IQR computed per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1031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Fence: Q1 − 1.5×IQR to Q3 + 1.5×IQR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63347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Applied to 6 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316382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Tabular report: bounds + outlier 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051560"/>
            <a:ext cx="3566160" cy="2880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1051560"/>
            <a:ext cx="35661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1704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Z-Score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15727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scipy.stats.zscore on all 6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1031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Threshold: |z| &gt; 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63347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Flags images more than 3σ from mean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16382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Fast univariate per-feature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051560"/>
            <a:ext cx="3566160" cy="2880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01000" y="1051560"/>
            <a:ext cx="35661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11704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Segoe UI"/>
              </a:rPr>
              <a:t>Isolation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15727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Multivariate ensemble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21031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contamination = 5% of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7" y="263347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Detects non-linear outlier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7" y="316382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sklearn.ensemble.IsolationForest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114800"/>
            <a:ext cx="11365992" cy="2468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2-of-3 Voting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5262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Segoe UI"/>
              </a:rPr>
              <a:t>An image is a confirmed outlier if flagged by ≥ 2 of the 3 methods.
Moderate outliers are retained — image diversity aids YOLO training.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206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Severe Outlier Removal Criteria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617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brightness &lt; 30   (near-black, unlit image)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0017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file_size_kb &lt; 5  (suspiciously small — likely corrupt)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3858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sharpness &lt; 5     (completely blurred — unusable for OCR)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7698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readable == False (failed cv2 or PIL read check)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630936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Result: df_final retains the clean, training-ready subset after severe outlier removal.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YOLO Dataset Preparation &amp;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Auto-annotation · 80/10/10 split · YOLO config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1752" y="1115568"/>
            <a:ext cx="45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Auto-Annotation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417320"/>
            <a:ext cx="53035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Otsu thresholding + morphological dilation to find text regions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Largest contour bounding box → class-0 YOLO annotation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Margin padding (5%) applied around detected region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YOLO format: class cx cy w h  (all values normalised 0–1)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Fallback: annotate centre 90%×80% of image if no contour found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For production accuracy: replace with LabelImg manual labels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429000"/>
            <a:ext cx="530352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4930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YOLO Annotation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673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Segoe UI"/>
              </a:rPr>
              <a:t>&lt;class&gt;  &lt;cx&gt;  &lt;cy&gt;  &lt;width&gt;  &lt;height&gt;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All values normalised to [0, 1] relative to image dimensions
class = 0  (lab_data_region)  |  One annotation per image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892040"/>
            <a:ext cx="530352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9560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Segoe UI"/>
              </a:rPr>
              <a:t>YOLO Config Files Generated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2578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obj.names   —  1 class: lab_data_region
▸  obj.data    —  classes / train / valid / backup paths
▸  train.txt   —  absolute paths to train images
▸  val.txt     —  absolute paths to val images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051560"/>
            <a:ext cx="5303520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Dataset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600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Segoe UI"/>
              </a:rPr>
              <a:t>sklearn.model_selection.train_test_split
random_state = 42   (reproducible)
Train    :  80 images  (80%)
Val      :  10 images  (10%)
Test     :  10 images  (10%)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Image Preprocessing for YOLO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9476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Segoe UI"/>
              </a:rPr>
              <a:t>▸  Resize to 416 × 416 px (INTER_LINEAR)
▸  Saved as JPEG in yolo_dataset/images/&lt;split&gt;/
▸  Labels saved as .txt in yolo_dataset/labels/&lt;split&gt;/
Folder structure:
  yolo_dataset/
    images/{train, val, test}/
    labels/{train, val, test}/
    obj.names  |  obj.data
    train.txt  |  val.txt  |  test.txt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YOLOv3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AlexeyAB darknet · darknet53 pretrained weights · custom cfg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1752" y="1115568"/>
            <a:ext cx="45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Implementation (AlexeyAB Darknet)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417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git clone https://github.com/AlexeyAB/darknet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Compile with GPU=1, CUDNN=1, OPENCV=1 on Google Colab T4 GPU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Training command: darknet detector train obj.data yolov3-custom.cfg darknet53.conv.74 -map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Weights saved every 1000 iterations to model/ directory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3081528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yolov3-custom.cfg Modifications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33832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filters = (num_classes + 5) × 3 = (1 + 5) × 3 = 18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classes = 1  (set in all 3 [yolo] layers)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width = height = 416  (input resolution)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max_batches = 6000  (baseline; 2000 × num_classes minimum)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Pretrained weights: darknet53.conv.74 (~160 MB)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051560"/>
            <a:ext cx="5303520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Fine-tuning Strategy 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508760"/>
            <a:ext cx="182880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554480"/>
            <a:ext cx="1737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Strategy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508760"/>
            <a:ext cx="73152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554480"/>
            <a:ext cx="640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LR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508760"/>
            <a:ext cx="64008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1554480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Batch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508760"/>
            <a:ext cx="91440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60" y="1554480"/>
            <a:ext cx="822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MaxIter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764792"/>
            <a:ext cx="182880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1801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1764792"/>
            <a:ext cx="73152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18013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0.001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764792"/>
            <a:ext cx="64008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60" y="18013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64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1764792"/>
            <a:ext cx="91440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60" y="18013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6000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020824"/>
            <a:ext cx="1828800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20574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Lower LR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2020824"/>
            <a:ext cx="731520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2057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0.0005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020824"/>
            <a:ext cx="640080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81160" y="20574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64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2020824"/>
            <a:ext cx="914400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66960" y="205740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8000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2276856"/>
            <a:ext cx="182880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23134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Small Batch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2276856"/>
            <a:ext cx="73152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0" y="23134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0.001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2276856"/>
            <a:ext cx="64008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81160" y="23134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32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2276856"/>
            <a:ext cx="91440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66960" y="23134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6000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2532888"/>
            <a:ext cx="1828800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9400" y="25694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Extended Training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8200" y="2532888"/>
            <a:ext cx="731520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0" y="256946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0.0001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2532888"/>
            <a:ext cx="640080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81160" y="25694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64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21240" y="2532888"/>
            <a:ext cx="914400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66960" y="25694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12000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2788920"/>
            <a:ext cx="182880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29400" y="28254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High Res 608×608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58200" y="2788920"/>
            <a:ext cx="73152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03920" y="282549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0.001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35440" y="2788920"/>
            <a:ext cx="64008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281160" y="282549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32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21240" y="2788920"/>
            <a:ext cx="914400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966960" y="282549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8000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4114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Segoe UI"/>
              </a:rPr>
              <a:t>Expected mAP after training: ~85–95% on single-class detection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4480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Segoe UI"/>
              </a:rPr>
              <a:t>Training Tips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48006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Save log: ./darknet ... 2&gt;&amp;1 | tee training.log
▸  Monitor avg loss — stop when avg loss &lt; 0.05
▸  Use -dont_show flag on headless Colab
▸  Use best.weights (lowest val loss) for inference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Inference &amp; OCR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YOLO detect → crop → preprocess → Tesseract → parse → 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5087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508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1704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4447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1F5F9"/>
                </a:solidFill>
                <a:latin typeface="Segoe UI"/>
              </a:rPr>
              <a:t>Load
Weights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cv2.dnn.
readNetFrom
Darknet()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7672" y="17190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366F1"/>
                </a:solidFill>
                <a:latin typeface="Segoe UI"/>
              </a:rPr>
              <a:t>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29968" y="1078992"/>
            <a:ext cx="15087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29968" y="1078992"/>
            <a:ext cx="15087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0" y="11704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14447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1F5F9"/>
                </a:solidFill>
                <a:latin typeface="Segoe UI"/>
              </a:rPr>
              <a:t>Detect
Regions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YOLOv3
blobFromImage
forward()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7190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82F6"/>
                </a:solidFill>
                <a:latin typeface="Segoe UI"/>
              </a:rPr>
              <a:t>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48456" y="1078992"/>
            <a:ext cx="15087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48456" y="1078992"/>
            <a:ext cx="1508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21608" y="11704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14447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1F5F9"/>
                </a:solidFill>
                <a:latin typeface="Segoe UI"/>
              </a:rPr>
              <a:t>Crop
Objects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8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box[x,y,w,h]
clamp to
image bounds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17190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Segoe UI"/>
              </a:rPr>
              <a:t>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66944" y="1078992"/>
            <a:ext cx="15087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66944" y="1078992"/>
            <a:ext cx="1508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40096" y="11704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14447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1F5F9"/>
                </a:solidFill>
                <a:latin typeface="Segoe UI"/>
              </a:rPr>
              <a:t>3×
Upscale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0096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cv2.resize
INTER_CUBIC
scale=3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17190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Segoe UI"/>
              </a:rPr>
              <a:t>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85432" y="1078992"/>
            <a:ext cx="15087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85432" y="1078992"/>
            <a:ext cx="15087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58584" y="11704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8584" y="14447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1F5F9"/>
                </a:solidFill>
                <a:latin typeface="Segoe UI"/>
              </a:rPr>
              <a:t>Gray +
Blur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cvtColor
GaussianBlur
(5×5)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17190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  <a:latin typeface="Segoe UI"/>
              </a:rPr>
              <a:t>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19" y="1078992"/>
            <a:ext cx="15087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503919" y="1078992"/>
            <a:ext cx="15087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77072" y="11704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7072" y="14447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1F5F9"/>
                </a:solidFill>
                <a:latin typeface="Segoe UI"/>
              </a:rPr>
              <a:t>Otsu +
Flip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7072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THRESH_OTSU
bitwise_not
(black→white)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0111" y="17190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  <a:latin typeface="Segoe UI"/>
              </a:rPr>
              <a:t>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22408" y="1078992"/>
            <a:ext cx="15087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122408" y="1078992"/>
            <a:ext cx="1508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95560" y="11704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Segoe U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5560" y="14447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1F5F9"/>
                </a:solidFill>
                <a:latin typeface="Segoe UI"/>
              </a:rPr>
              <a:t>OCR →
CSV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60" y="19659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pytesseract
--oem 3
--psm 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10896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01752" y="3264408"/>
            <a:ext cx="45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Preprocessing Steps (preprocess_crop_for_ocr)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3566160"/>
            <a:ext cx="5486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3× upscale with cv2.INTER_CUBIC — improves character resolution for OCR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Grayscale conversion: cv2.COLOR_BGR2GRAY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Gaussian blur (5×5 kernel) — removes JPEG compression noise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Otsu thresholding: cv2.THRESH_BINARY_INV + cv2.THRESH_OTSU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bitwise_not: flips to black text on white — Tesseract expectation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3182112"/>
            <a:ext cx="5303520" cy="34015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0" y="3273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Tesseract Config &amp; Output Parsing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3639312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Config: --oem 3 --psm 6
  OEM 3 = LSTM + legacy engine
  PSM 6 = uniform text block
Parsed fields from OCR text:
  Test Name      — text lines without units
  Technology     — regex: C.L.I.A / ELISA / PCR
  Value          — regex: \b(\d+\.?\d*)\b
  Unit           — regex: ng/dl | pg/ml | uIU/ml ...
  Reference Range— regex: \d+-\d+ | &gt;\d+ | &lt;\d+
Output: pd.DataFrame → lab_report_ocr_output.csv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Evaluation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Preprocessing grid search · Tesseract PSM tuning · OCR error correction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1752" y="1115568"/>
            <a:ext cx="45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Preprocessing Grid Search (27 Combinations)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417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Grid: scale ∈ {2, 3, 4} × blur_kernel ∈ {3, 5, 7} × threshold ∈ {otsu, adaptive_mean, adaptive_gaussian}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Scored by mean Tesseract confidence (image_to_data DICT output)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Heatmap: scale × blur_kernel with mean confidence as cell value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Best config selected and applied globally for all subsequent OCR 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3081528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Tesseract PSM Mode Comparison (6 Modes)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33832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Modes tested: PSM 3, 4, 6, 11, 12, 13 on optimized crop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Scored by mean confidence + word count extracted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Bar chart: PSM mode vs mean confidence (horizontal)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Best PSM replaces default (--psm 6) in OPTIMIZED_TESS_CONFIG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051560"/>
            <a:ext cx="5303520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PSM Modes Explained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572768"/>
            <a:ext cx="77724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16093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PSM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609344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Fully automatic page segmentation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075688"/>
            <a:ext cx="77724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21122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PSM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12264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Single column of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578608"/>
            <a:ext cx="777240" cy="3291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26151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PSM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615184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Uniform block of text (default)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81528"/>
            <a:ext cx="77724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01968" y="31181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PSM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118104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Sparse text — find as much as possible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584448"/>
            <a:ext cx="77724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968" y="3621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PSM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621024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Sparse text with OSD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087368"/>
            <a:ext cx="77724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41239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  <a:latin typeface="Segoe UI"/>
              </a:rPr>
              <a:t>PSM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123944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Raw single text 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709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Segoe UI"/>
              </a:rPr>
              <a:t>OCR Error Correction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029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O followed by digit → 0   (O1 → 01)
▸  I followed by digit → 1   (I2 → 12)
▸  Standalone l → 1
▸  Whitespace normalisation \s+ → single space
▸  Character whitelist: A-Z, a-z, 0-9, .,-/:()%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983480"/>
            <a:ext cx="566928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50474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Accuracy Evaluation (when ground_truth.csv available)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367528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Merge OCR output with ground truth on [source_image, test_name]
▸  Exact-match accuracy computed per field: value / unit / reference_range
▸  Results saved to results/model_finetuning_results.csv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Automation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Batch processing · CLI script · Google Drive archive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3566160" cy="3108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35661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Segoe UI"/>
              </a:rPr>
              <a:t>Batch Processing — process_folder()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60020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Processes all .jpg files in an input 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103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Supports optional YOLOv3 detector or demo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606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Streams results row-by-row (memory safe)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31089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Saves to batch_all_images.csv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6118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100 images processed in a single 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051560"/>
            <a:ext cx="3566160" cy="3108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40" y="1051560"/>
            <a:ext cx="35661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11704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Google Drive Archive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160020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Timestamped archive: run_YYYYMMDD_HHMMSS/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103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Copies all 6 output CSVs to 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606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Copies results/ charts folder (all PNG plots)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1089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shutil.copy + shutil.copytree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6118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IN_COLAB flag auto-detects environment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1051560"/>
            <a:ext cx="3566160" cy="3108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01000" y="1051560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11704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egoe UI"/>
              </a:rPr>
              <a:t>Custom_OCR.py CLI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7" y="160020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Standalone Python script (no notebook needed)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7" y="2103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Usage: python Custom_OCR.py --image img.jpg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7" y="2606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Optional: --output result.csv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7" y="31089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Loads YOLO weights if available; else full-image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7" y="36118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Segoe UI"/>
              </a:rPr>
              <a:t>▸  Prints structured results to console + saves 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343400"/>
            <a:ext cx="1136599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407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Segoe UI"/>
              </a:rPr>
              <a:t>Output Files Produced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73659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output/image_metadata_clean.csv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7365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  <a:latin typeface="Segoe UI"/>
              </a:rPr>
              <a:t>Per-image EDA stats (15 features)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73659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Segoe UI"/>
              </a:rPr>
              <a:t>Always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04748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  <a:latin typeface="Segoe UI"/>
              </a:rPr>
              <a:t>output/lab_report_ocr_output.csv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0474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  <a:latin typeface="Segoe UI"/>
              </a:rPr>
              <a:t>OCR results — default Tesseract config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504748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Segoe UI"/>
              </a:rPr>
              <a:t>After inference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358383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output/lab_report_ocr_optimized.csv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5358383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  <a:latin typeface="Segoe UI"/>
              </a:rPr>
              <a:t>OCR results — grid-search best config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5358383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Segoe UI"/>
              </a:rPr>
              <a:t>After optimisation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66927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  <a:latin typeface="Segoe UI"/>
              </a:rPr>
              <a:t>output/batch_all_images.csv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566927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  <a:latin typeface="Segoe UI"/>
              </a:rPr>
              <a:t>Full batch: all 100 images processed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5669279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Segoe UI"/>
              </a:rPr>
              <a:t>After Section 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98017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model/yolov3-custom_best.weights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5980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  <a:latin typeface="Segoe UI"/>
              </a:rPr>
              <a:t>Trained YOLO weights (best mAP)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598017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Segoe UI"/>
              </a:rPr>
              <a:t>After training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29107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  <a:latin typeface="Segoe UI"/>
              </a:rPr>
              <a:t>Custom_OCR.py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62910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  <a:latin typeface="Segoe UI"/>
              </a:rPr>
              <a:t>Standalone CLI script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629107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Segoe UI"/>
              </a:rPr>
              <a:t>Always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Segoe UI"/>
              </a:rP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Key takeaways · pipeline summary · academic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65992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1752" y="1115568"/>
            <a:ext cx="45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417320"/>
            <a:ext cx="53035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1F5F9"/>
                </a:solidFill>
                <a:latin typeface="Segoe UI"/>
              </a:rPr>
              <a:t>  ▸  Custom YOLOv3 + Tesseract pipeline successfully automates lab report digitisation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Preprocessing optimization (grid search) measurably improves OCR confidence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PSM mode tuning + character whitelist + error-correction rules reduce OCR noise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Single-class YOLO (lab_data_region) is sufficient for structured report layouts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Entire pipeline runs at zero cost on Google Colab free tier</a:t>
            </a:r>
          </a:p>
          <a:p>
            <a:r>
              <a:rPr sz="1000" b="0">
                <a:solidFill>
                  <a:srgbClr val="F1F5F9"/>
                </a:solidFill>
                <a:latin typeface="Segoe UI"/>
              </a:rPr>
              <a:t>  ▸  Custom_OCR.py CLI enables standalone deployment without a notebook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730752"/>
            <a:ext cx="5303520" cy="28986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Pipeline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9651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09651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100 Thyrocare lab report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4340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YOLO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343400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1 (lab_data_region)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9028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Pretrained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590288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darknet53.conv.74  ~160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3717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Input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83717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416 × 416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8406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OCR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084064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Tesseract 5 (LSTM, OEM=3)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3095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Grid Combos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33095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27 (scale × blur × threshold)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57784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PSM Modes Tested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577840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6 (PSM 3, 4, 6, 11, 12, 13)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82472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Output Format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824728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CSV (Test/Value/Unit/Range)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07161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607161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CLI + Google Colab + Drive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31850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Cloud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6318504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Segoe UI"/>
              </a:rPr>
              <a:t>$0 (Colab free tier)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051560"/>
            <a:ext cx="5303520" cy="5577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1572768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  <a:latin typeface="Segoe UI"/>
              </a:rPr>
              <a:t>[1]  Redmon, J., &amp; Farhadi, A. (2018). YOLOv3: An Incremental
       Improvement. arXiv:1804.02767.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121408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Segoe UI"/>
              </a:rPr>
              <a:t>[2]  Bochkovskiy, A., Wang, C.Y., &amp; Liao, H.Y.M. (2020).
       YOLOv4. arXiv:2004.10934.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670048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  <a:latin typeface="Segoe UI"/>
              </a:rPr>
              <a:t>[3]  Smith, R. (2007). An Overview of the Tesseract OCR Engine.
       ICDAR 2007. IEEE.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218687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Segoe UI"/>
              </a:rPr>
              <a:t>[4]  Kay, A. (2007). Tesseract: An Open-Source Optical Character
       Recognition Engine. Linux Journal, 159.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767328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  <a:latin typeface="Segoe UI"/>
              </a:rPr>
              <a:t>[5]  Bradski, G. (2000). The OpenCV Library. Dr. Dobb's Journal
       of Software Tools.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315968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Segoe UI"/>
              </a:rPr>
              <a:t>[6]  Otsu, N. (1979). A Threshold Selection Method from Gray-Level
       Histograms. IEEE Trans. Systems, Man, Cybernetics.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864607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  <a:latin typeface="Segoe UI"/>
              </a:rPr>
              <a:t>[7]  Google Colab Documentation. (2024).
       colab.research.google.com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413248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Segoe UI"/>
              </a:rPr>
              <a:t>[8]  AlexeyAB Darknet GitHub Repository.
       github.com/AlexeyAB/darknet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961888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  <a:latin typeface="Segoe UI"/>
              </a:rPr>
              <a:t>[9]  Thyrocare Technologies Ltd. Sample Lab Report Images.
       www.thyrocare.com  (dataset source)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668426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1F5F9"/>
                </a:solidFill>
                <a:latin typeface="Segoe UI"/>
              </a:rPr>
              <a:t>Sarita Sahoo  |  Chubb Digital  |  2026  |  Custom OCR — YOLOv3 + Tesseract  |  Project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3792</Words>
  <Application>Microsoft Office PowerPoint</Application>
  <PresentationFormat>Custom</PresentationFormat>
  <Paragraphs>433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Subhash Sahoo</cp:lastModifiedBy>
  <cp:revision>1</cp:revision>
  <dcterms:created xsi:type="dcterms:W3CDTF">2013-01-27T09:14:16Z</dcterms:created>
  <dcterms:modified xsi:type="dcterms:W3CDTF">2026-10-24T14:39:25Z</dcterms:modified>
  <cp:category/>
</cp:coreProperties>
</file>